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ETL per a la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Prospecció Comercial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Consolidació i automatització de dades comercials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mitjançant un sistema Extract, Transform, Load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383280"/>
            <a:ext cx="3657600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Treball de Fi de Grau  ·  Enginyeria de Dades  ·  UAB  ·  2025–2026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Continguts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50292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12471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 Problema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50292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85623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Objectius del Projecte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50292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58775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 ETL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50292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331927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Resultats i Validació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50292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405079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Context i Problema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2560320" cy="3291840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2344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874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Dades en sitges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5760" y="237744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departament gestiona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seva pròpia informació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 integració.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00400" y="1051560"/>
            <a:ext cx="2560320" cy="3291840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23444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00400" y="1874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 qualitat de dades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200400" y="237744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Duplicats, formats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inconsistents i valors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absents o incorrectes.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035040" y="1051560"/>
            <a:ext cx="2560320" cy="3291840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23444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035040" y="1874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 Data Governance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035040" y="237744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Absència de polítiques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estàndards per gestionar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compartir les dades.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365760" y="4480560"/>
            <a:ext cx="841248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365760" y="44805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 equips comercials necessiten eines que integrin i normalitzin les dades per prendre decisions informades.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Objectius del Projecte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868680"/>
          </a:xfrm>
          <a:prstGeom prst="rect">
            <a:avLst/>
          </a:prstGeom>
          <a:solidFill>
            <a:srgbClr val="1A1D2E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51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Objectiu General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Dissenyar i construir un sistema ETL que consolidi dades de prospecció comercial de múltiples fonts,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garantint la qualitat i facilitant la presa de decisions.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32004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5740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057400"/>
            <a:ext cx="7772400" cy="502920"/>
          </a:xfrm>
          <a:prstGeom prst="rect">
            <a:avLst/>
          </a:prstGeom>
          <a:solidFill>
            <a:srgbClr val="151824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084832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Automatitzar l'extracció de dades d'Outreach, ZoomInfo i LeadGenius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32004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74320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2743200"/>
            <a:ext cx="7772400" cy="502920"/>
          </a:xfrm>
          <a:prstGeom prst="rect">
            <a:avLst/>
          </a:prstGeom>
          <a:solidFill>
            <a:srgbClr val="151824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2770632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validacions de qualitat: emails, dominis, duplicats, país, LinkedIn...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429000"/>
            <a:ext cx="32004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42900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4400" y="3429000"/>
            <a:ext cx="7772400" cy="502920"/>
          </a:xfrm>
          <a:prstGeom prst="rect">
            <a:avLst/>
          </a:prstGeom>
          <a:solidFill>
            <a:srgbClr val="151824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3456432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Centralitzar les dades en un repositori estructurat i exportable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32004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11480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14400" y="4114800"/>
            <a:ext cx="7772400" cy="502920"/>
          </a:xfrm>
          <a:prstGeom prst="rect">
            <a:avLst/>
          </a:prstGeom>
          <a:solidFill>
            <a:srgbClr val="151824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4142232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Reduir el temps de prospecció manual dels equips comercials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Arquitectura del Sistema ETL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463040"/>
            <a:ext cx="1417320" cy="1371600"/>
          </a:xfrm>
          <a:prstGeom prst="rect">
            <a:avLst/>
          </a:prstGeom>
          <a:solidFill>
            <a:srgbClr val="1A1D2E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463040"/>
            <a:ext cx="141732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6459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10512" y="2148840"/>
            <a:ext cx="17373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10512" y="201168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11680" y="1463040"/>
            <a:ext cx="1417320" cy="1371600"/>
          </a:xfrm>
          <a:prstGeom prst="rect">
            <a:avLst/>
          </a:prstGeom>
          <a:solidFill>
            <a:srgbClr val="1A1D2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11680" y="1463040"/>
            <a:ext cx="141732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16459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2-4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11680" y="210312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font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56432" y="2148840"/>
            <a:ext cx="17373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56432" y="201168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0" y="1463040"/>
            <a:ext cx="1417320" cy="1371600"/>
          </a:xfrm>
          <a:prstGeom prst="rect">
            <a:avLst/>
          </a:prstGeom>
          <a:solidFill>
            <a:srgbClr val="1A1D2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0" y="1463040"/>
            <a:ext cx="141732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0" y="16459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utils.py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0" y="210312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Transfor-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mació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102352" y="2148840"/>
            <a:ext cx="17373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02352" y="201168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303520" y="1463040"/>
            <a:ext cx="1417320" cy="1371600"/>
          </a:xfrm>
          <a:prstGeom prst="rect">
            <a:avLst/>
          </a:prstGeom>
          <a:solidFill>
            <a:srgbClr val="1A1D2E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303520" y="1463040"/>
            <a:ext cx="141732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0" y="16459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03520" y="210312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748272" y="2148840"/>
            <a:ext cx="17373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48272" y="201168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949440" y="1463040"/>
            <a:ext cx="1417320" cy="1371600"/>
          </a:xfrm>
          <a:prstGeom prst="rect">
            <a:avLst/>
          </a:prstGeom>
          <a:solidFill>
            <a:srgbClr val="1A1D2E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949440" y="1463040"/>
            <a:ext cx="141732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49440" y="16459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49440" y="210312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Càrrega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65760" y="3063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FONTS D'ENTRADA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331720" y="3017520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15182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31720" y="301752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.csv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160520" y="3017520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15182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60520" y="301752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ZoomInfo .csv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989320" y="3017520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15182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89320" y="301752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LeadGenius .xlsx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315200" y="3063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SORTIDA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315200" y="3401568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15182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340156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.csv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5760" y="3931920"/>
            <a:ext cx="8412480" cy="1005840"/>
          </a:xfrm>
          <a:prstGeom prst="rect">
            <a:avLst/>
          </a:prstGeom>
          <a:solidFill>
            <a:srgbClr val="1A1D2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48640" y="3977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compartit — utils.py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48640" y="431596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Rename + tipus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231136" y="431596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Merge comptes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913632" y="431596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10 validacions qualitat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96128" y="431596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Filtres per font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278624" y="431596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Pausa revisió manual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Validació de Qualitat — 10 Comprovacions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4023360" cy="548640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41148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05156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d'email vàlid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64792"/>
            <a:ext cx="4023360" cy="548640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764792"/>
            <a:ext cx="41148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64792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1764792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 de correu corporatiu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478024"/>
            <a:ext cx="4023360" cy="548640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478024"/>
            <a:ext cx="41148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478024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478024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 de duplicats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91256"/>
            <a:ext cx="4023360" cy="548640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191256"/>
            <a:ext cx="41148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91256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3191256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 de gènere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904488"/>
            <a:ext cx="4023360" cy="548640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904488"/>
            <a:ext cx="41148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904488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3904488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 de país ISO alpha-2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1051560"/>
            <a:ext cx="4023360" cy="548640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1051560"/>
            <a:ext cx="41148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05156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49240" y="105156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de telèfon E.164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46320" y="1764792"/>
            <a:ext cx="4023360" cy="548640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1764792"/>
            <a:ext cx="41148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1764792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49240" y="1764792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LinkedIn vàlid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46320" y="2478024"/>
            <a:ext cx="4023360" cy="548640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2478024"/>
            <a:ext cx="41148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2478024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49240" y="2478024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assignat al CRM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46320" y="3191256"/>
            <a:ext cx="4023360" cy="548640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46320" y="3191256"/>
            <a:ext cx="41148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3191256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49240" y="3191256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Camps obligatoris presents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846320" y="3904488"/>
            <a:ext cx="4023360" cy="548640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46320" y="3904488"/>
            <a:ext cx="41148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3904488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49240" y="3904488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Registres insuficients aïllats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Resultats i Validació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828800" cy="1645920"/>
          </a:xfrm>
          <a:prstGeom prst="rect">
            <a:avLst/>
          </a:prstGeom>
          <a:solidFill>
            <a:srgbClr val="1A1D2E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1005840"/>
            <a:ext cx="1828800" cy="1645920"/>
          </a:xfrm>
          <a:prstGeom prst="rect">
            <a:avLst/>
          </a:prstGeom>
          <a:solidFill>
            <a:srgbClr val="1A1D2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10972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560320" y="19202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1828800" cy="1645920"/>
          </a:xfrm>
          <a:prstGeom prst="rect">
            <a:avLst/>
          </a:prstGeom>
          <a:solidFill>
            <a:srgbClr val="1A1D2E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0972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4663440" y="19202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automatitzades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0" y="1005840"/>
            <a:ext cx="1828800" cy="1645920"/>
          </a:xfrm>
          <a:prstGeom prst="rect">
            <a:avLst/>
          </a:prstGeom>
          <a:solidFill>
            <a:srgbClr val="1A1D2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10972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6766560" y="19202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sortida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Fitxers generats per cada font processada: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3931920" cy="548640"/>
          </a:xfrm>
          <a:prstGeom prst="rect">
            <a:avLst/>
          </a:prstGeom>
          <a:solidFill>
            <a:srgbClr val="151824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246120"/>
            <a:ext cx="54864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2735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[Font]_Prospects.xlsx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520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Prospectes validats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3246120"/>
            <a:ext cx="3931920" cy="548640"/>
          </a:xfrm>
          <a:prstGeom prst="rect">
            <a:avLst/>
          </a:prstGeom>
          <a:solidFill>
            <a:srgbClr val="151824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3246120"/>
            <a:ext cx="54864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32735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Deliverable.xlsx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3520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fulls: OK / Issues / Stats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977640"/>
            <a:ext cx="3931920" cy="548640"/>
          </a:xfrm>
          <a:prstGeom prst="rect">
            <a:avLst/>
          </a:prstGeom>
          <a:solidFill>
            <a:srgbClr val="151824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977640"/>
            <a:ext cx="54864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0050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Emails.csv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4251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 de correus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977640"/>
            <a:ext cx="3931920" cy="548640"/>
          </a:xfrm>
          <a:prstGeom prst="rect">
            <a:avLst/>
          </a:prstGeom>
          <a:solidFill>
            <a:srgbClr val="151824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3977640"/>
            <a:ext cx="54864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40050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Insufficient_Prospects.csv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4251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Registres insuficients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Conclusions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8229600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52144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124712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ETL automatitza la consolidació de dades de 3 fonts comercials heterogènies.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1874520"/>
            <a:ext cx="8229600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75104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1947672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motor compartit utils.py garanteix la qualitat i consistència amb 10 validacions sistemàtiques.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7200" y="2697480"/>
            <a:ext cx="8229600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798064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2770632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 equips comercials disposen d'una visió unificada de prospectes, reduint tasques manuals.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57200" y="3520440"/>
            <a:ext cx="8229600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621024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88720" y="3593592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L'arquitectura escalable permet afegir noves fonts de dades sense redissenyar el sistema.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Gràcies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Preguntes?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200400" y="2971800"/>
            <a:ext cx="2743200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Treball de Fi de Grau  ·  Enginyeria de Dades  ·  UAB  ·  2025–2026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TFG – Pipeline ETL de Prospecció Comercial</dc:title>
  <dc:subject>PptxGenJS Presentation</dc:subject>
  <dc:creator>Dante</dc:creator>
  <cp:lastModifiedBy>Dante</cp:lastModifiedBy>
  <cp:revision>1</cp:revision>
  <dcterms:created xsi:type="dcterms:W3CDTF">2026-05-16T20:44:54Z</dcterms:created>
  <dcterms:modified xsi:type="dcterms:W3CDTF">2026-05-16T20:44:54Z</dcterms:modified>
</cp:coreProperties>
</file>